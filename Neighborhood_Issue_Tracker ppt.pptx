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006990" y="1453978"/>
            <a:ext cx="3566160" cy="4114800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554480"/>
            <a:ext cx="658368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500" b="1">
                <a:solidFill>
                  <a:srgbClr val="F8FAFF"/>
                </a:solidFill>
                <a:latin typeface="Aptos"/>
              </a:defRPr>
            </a:pPr>
            <a:r>
              <a:rPr dirty="0"/>
              <a:t>NEIGHBORHOOD</a:t>
            </a:r>
            <a:br>
              <a:rPr dirty="0"/>
            </a:br>
            <a:r>
              <a:rPr dirty="0"/>
              <a:t>ISSUE TRACKER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13F8036C-1099-23C3-DAE1-9ECD6592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5696" y="1289222"/>
            <a:ext cx="5115699" cy="434957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TEAM – 8 </a:t>
            </a:r>
          </a:p>
          <a:p>
            <a:r>
              <a:rPr lang="en-US" b="1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NAME &amp; ROLL NO : </a:t>
            </a:r>
          </a:p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25MVCSMRO557 - B.AKANKSHA</a:t>
            </a:r>
          </a:p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25MVCSMRO553 – A.THRIPURA</a:t>
            </a:r>
          </a:p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25MVCSMRO550 – A. YAMINI</a:t>
            </a:r>
          </a:p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25MVCSMRO549 – A. VARSHINI </a:t>
            </a:r>
          </a:p>
          <a:p>
            <a:endParaRPr lang="en-IN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6227C-07D4-91EB-1117-C1E36AB1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FF7F97D-1F89-2495-93FC-715583BE8A1E}"/>
              </a:ext>
            </a:extLst>
          </p:cNvPr>
          <p:cNvSpPr/>
          <p:nvPr/>
        </p:nvSpPr>
        <p:spPr>
          <a:xfrm>
            <a:off x="8412480" y="640080"/>
            <a:ext cx="2468880" cy="2468880"/>
          </a:xfrm>
          <a:prstGeom prst="ellipse">
            <a:avLst/>
          </a:prstGeom>
          <a:solidFill>
            <a:srgbClr val="53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28E26E-3980-6B3A-9E76-4FFC45DFAE69}"/>
              </a:ext>
            </a:extLst>
          </p:cNvPr>
          <p:cNvSpPr/>
          <p:nvPr/>
        </p:nvSpPr>
        <p:spPr>
          <a:xfrm>
            <a:off x="9601200" y="2377440"/>
            <a:ext cx="1508760" cy="1508760"/>
          </a:xfrm>
          <a:prstGeom prst="ellipse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953938-5ECF-E9CF-5597-B34FFF66F5C2}"/>
              </a:ext>
            </a:extLst>
          </p:cNvPr>
          <p:cNvSpPr/>
          <p:nvPr/>
        </p:nvSpPr>
        <p:spPr>
          <a:xfrm>
            <a:off x="7909560" y="3749039"/>
            <a:ext cx="1005840" cy="1005840"/>
          </a:xfrm>
          <a:prstGeom prst="ellipse">
            <a:avLst/>
          </a:prstGeom>
          <a:solidFill>
            <a:srgbClr val="A0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490D75-714D-6A46-4406-55E4E20B59A6}"/>
              </a:ext>
            </a:extLst>
          </p:cNvPr>
          <p:cNvSpPr/>
          <p:nvPr/>
        </p:nvSpPr>
        <p:spPr>
          <a:xfrm>
            <a:off x="7452360" y="1143000"/>
            <a:ext cx="3566160" cy="4114800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44C0B-6EF0-5CF3-7FE7-5BE357E44C94}"/>
              </a:ext>
            </a:extLst>
          </p:cNvPr>
          <p:cNvSpPr txBox="1"/>
          <p:nvPr/>
        </p:nvSpPr>
        <p:spPr>
          <a:xfrm>
            <a:off x="7818120" y="1490472"/>
            <a:ext cx="2743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F8FAFF"/>
                </a:solidFill>
                <a:latin typeface="Aptos"/>
              </a:defRPr>
            </a:pPr>
            <a:r>
              <a:t>COMMUNITY</a:t>
            </a:r>
            <a:br/>
            <a:r>
              <a:t>ISSUE BOARD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49AFE7-55B0-C726-7921-CF87D588A9C4}"/>
              </a:ext>
            </a:extLst>
          </p:cNvPr>
          <p:cNvSpPr/>
          <p:nvPr/>
        </p:nvSpPr>
        <p:spPr>
          <a:xfrm>
            <a:off x="7818120" y="2560320"/>
            <a:ext cx="2788920" cy="521207"/>
          </a:xfrm>
          <a:prstGeom prst="round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EA0AE9-5C38-DF34-C3DD-C53D7814E3A3}"/>
              </a:ext>
            </a:extLst>
          </p:cNvPr>
          <p:cNvSpPr/>
          <p:nvPr/>
        </p:nvSpPr>
        <p:spPr>
          <a:xfrm>
            <a:off x="8001000" y="2715768"/>
            <a:ext cx="201168" cy="201168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738B0-AC6E-7395-D019-EBF5FC230C8B}"/>
              </a:ext>
            </a:extLst>
          </p:cNvPr>
          <p:cNvSpPr txBox="1"/>
          <p:nvPr/>
        </p:nvSpPr>
        <p:spPr>
          <a:xfrm>
            <a:off x="8339327" y="2679191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F8FAFF"/>
                </a:solidFill>
                <a:latin typeface="Aptos"/>
              </a:defRPr>
            </a:pPr>
            <a:r>
              <a:t>Road damage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5D2142-53A8-ED58-3290-475F399BCA41}"/>
              </a:ext>
            </a:extLst>
          </p:cNvPr>
          <p:cNvSpPr/>
          <p:nvPr/>
        </p:nvSpPr>
        <p:spPr>
          <a:xfrm>
            <a:off x="7818120" y="3273552"/>
            <a:ext cx="2788920" cy="521207"/>
          </a:xfrm>
          <a:prstGeom prst="round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13949E1-8401-E8C9-932F-1EE8616024E9}"/>
              </a:ext>
            </a:extLst>
          </p:cNvPr>
          <p:cNvSpPr/>
          <p:nvPr/>
        </p:nvSpPr>
        <p:spPr>
          <a:xfrm>
            <a:off x="8001000" y="3429000"/>
            <a:ext cx="201168" cy="201168"/>
          </a:xfrm>
          <a:prstGeom prst="ellipse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EA4C3C-0B49-CF65-A647-74C4CDDB6E5F}"/>
              </a:ext>
            </a:extLst>
          </p:cNvPr>
          <p:cNvSpPr txBox="1"/>
          <p:nvPr/>
        </p:nvSpPr>
        <p:spPr>
          <a:xfrm>
            <a:off x="8339327" y="3392424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F8FAFF"/>
                </a:solidFill>
                <a:latin typeface="Aptos"/>
              </a:defRPr>
            </a:pPr>
            <a:r>
              <a:t>Streetlight out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7625302-67D5-24F1-27A3-D2C81A8FD89E}"/>
              </a:ext>
            </a:extLst>
          </p:cNvPr>
          <p:cNvSpPr/>
          <p:nvPr/>
        </p:nvSpPr>
        <p:spPr>
          <a:xfrm>
            <a:off x="7818120" y="3986783"/>
            <a:ext cx="2788920" cy="521207"/>
          </a:xfrm>
          <a:prstGeom prst="round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03E4E0-47AD-459E-5F6A-D73C1C117681}"/>
              </a:ext>
            </a:extLst>
          </p:cNvPr>
          <p:cNvSpPr/>
          <p:nvPr/>
        </p:nvSpPr>
        <p:spPr>
          <a:xfrm>
            <a:off x="8001000" y="4142231"/>
            <a:ext cx="201168" cy="201168"/>
          </a:xfrm>
          <a:prstGeom prst="ellipse">
            <a:avLst/>
          </a:prstGeom>
          <a:solidFill>
            <a:srgbClr val="4BD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DBA0C1-FD19-BD84-98A6-BB190CB8C6E7}"/>
              </a:ext>
            </a:extLst>
          </p:cNvPr>
          <p:cNvSpPr txBox="1"/>
          <p:nvPr/>
        </p:nvSpPr>
        <p:spPr>
          <a:xfrm>
            <a:off x="8339327" y="4105655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F8FAFF"/>
                </a:solidFill>
                <a:latin typeface="Aptos"/>
              </a:defRPr>
            </a:pPr>
            <a:r>
              <a:t>Waste collection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72AF3F-9DA6-CB9A-2B87-1A49FE30DB2C}"/>
              </a:ext>
            </a:extLst>
          </p:cNvPr>
          <p:cNvSpPr txBox="1"/>
          <p:nvPr/>
        </p:nvSpPr>
        <p:spPr>
          <a:xfrm>
            <a:off x="786384" y="3429000"/>
            <a:ext cx="58521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100" b="1">
                <a:solidFill>
                  <a:srgbClr val="3FDCD2"/>
                </a:solidFill>
                <a:latin typeface="Aptos"/>
              </a:defRPr>
            </a:pPr>
            <a:r>
              <a:t>Report it. Track it. Resolve it.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0FA1DC-9E73-D147-1D4B-9826C63DC301}"/>
              </a:ext>
            </a:extLst>
          </p:cNvPr>
          <p:cNvSpPr txBox="1"/>
          <p:nvPr/>
        </p:nvSpPr>
        <p:spPr>
          <a:xfrm>
            <a:off x="804672" y="4041648"/>
            <a:ext cx="57150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ADBCD7"/>
                </a:solidFill>
                <a:latin typeface="Aptos"/>
              </a:defRPr>
            </a:pPr>
            <a:r>
              <a:t>A simple platform to bring residents and local service teams together.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ED3C87-7EDB-7381-F89F-32A3D591769C}"/>
              </a:ext>
            </a:extLst>
          </p:cNvPr>
          <p:cNvSpPr/>
          <p:nvPr/>
        </p:nvSpPr>
        <p:spPr>
          <a:xfrm>
            <a:off x="822960" y="5074920"/>
            <a:ext cx="868680" cy="54864"/>
          </a:xfrm>
          <a:prstGeom prst="rect">
            <a:avLst/>
          </a:prstGeom>
          <a:solidFill>
            <a:srgbClr val="A0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2D7191-72C3-E999-9CBA-3D2B2EF4460E}"/>
              </a:ext>
            </a:extLst>
          </p:cNvPr>
          <p:cNvSpPr txBox="1"/>
          <p:nvPr/>
        </p:nvSpPr>
        <p:spPr>
          <a:xfrm>
            <a:off x="804672" y="5394960"/>
            <a:ext cx="4206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ADBCD7"/>
                </a:solidFill>
                <a:latin typeface="Aptos"/>
              </a:defRPr>
            </a:pPr>
            <a:r>
              <a:t>PROJECT PRESENTATION  •  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2E04EA-5452-4B6A-F5C2-89B90EDCF891}"/>
              </a:ext>
            </a:extLst>
          </p:cNvPr>
          <p:cNvSpPr txBox="1"/>
          <p:nvPr/>
        </p:nvSpPr>
        <p:spPr>
          <a:xfrm>
            <a:off x="804672" y="5989320"/>
            <a:ext cx="5943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DBCD7"/>
                </a:solidFill>
                <a:latin typeface="Aptos"/>
              </a:defRPr>
            </a:pPr>
            <a:r>
              <a:t>Presented by: [Your Name]     Class: [Your Class]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860943-88A9-028A-BFD8-EE20DF751B8F}"/>
              </a:ext>
            </a:extLst>
          </p:cNvPr>
          <p:cNvSpPr txBox="1"/>
          <p:nvPr/>
        </p:nvSpPr>
        <p:spPr>
          <a:xfrm>
            <a:off x="988542" y="996778"/>
            <a:ext cx="503331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8FAFF"/>
                </a:solidFill>
                <a:latin typeface="Aptos"/>
              </a:defRPr>
            </a:pPr>
            <a:r>
              <a:rPr lang="en-IN" sz="3500" dirty="0"/>
              <a:t>NEIGHBORHOOD</a:t>
            </a:r>
            <a:br>
              <a:rPr lang="en-IN" sz="3500" dirty="0"/>
            </a:br>
            <a:r>
              <a:rPr lang="en-IN" sz="3500" dirty="0"/>
              <a:t>ISSUE TRACKER</a:t>
            </a:r>
          </a:p>
        </p:txBody>
      </p:sp>
    </p:spTree>
    <p:extLst>
      <p:ext uri="{BB962C8B-B14F-4D97-AF65-F5344CB8AC3E}">
        <p14:creationId xmlns:p14="http://schemas.microsoft.com/office/powerpoint/2010/main" val="249528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F8FAFF"/>
                </a:solidFill>
                <a:latin typeface="Aptos"/>
              </a:defRPr>
            </a:pPr>
            <a:r>
              <a:t>Neighborhood problems deserve better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DBCD7"/>
                </a:solidFill>
                <a:latin typeface="Aptos"/>
              </a:defRPr>
            </a:pPr>
            <a:r>
              <a:t>Scattered complaints make it difficult to see what was reported, who owns it, and what happened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777240" cy="50292"/>
          </a:xfrm>
          <a:prstGeom prst="rect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DBCD7"/>
                </a:solidFill>
                <a:latin typeface="Aptos"/>
              </a:defRPr>
            </a:pPr>
            <a:r>
              <a:t>02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3493008" cy="2148840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532888"/>
            <a:ext cx="91440" cy="438912"/>
          </a:xfrm>
          <a:prstGeom prst="roundRect">
            <a:avLst/>
          </a:prstGeom>
          <a:solidFill>
            <a:srgbClr val="FF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39" y="2514600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00" b="1">
                <a:solidFill>
                  <a:srgbClr val="FF718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514600"/>
            <a:ext cx="28072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REPORTS GET LOST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136391"/>
            <a:ext cx="2980944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DBCD7"/>
                </a:solidFill>
                <a:latin typeface="Aptos"/>
              </a:defRPr>
            </a:pPr>
            <a:r>
              <a:t>Calls, messages, and verbal complaints are spread across different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2331720"/>
            <a:ext cx="3493008" cy="2148840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18304" y="2532888"/>
            <a:ext cx="91440" cy="438912"/>
          </a:xfrm>
          <a:prstGeom prst="round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42631" y="2514600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00" b="1">
                <a:solidFill>
                  <a:srgbClr val="FFC2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514600"/>
            <a:ext cx="28072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NO CLEAR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3136391"/>
            <a:ext cx="2980944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DBCD7"/>
                </a:solidFill>
                <a:latin typeface="Aptos"/>
              </a:defRPr>
            </a:pPr>
            <a:r>
              <a:t>Residents may not know if the issue has been received or assigned.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2331720"/>
            <a:ext cx="3493008" cy="2148840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40495" y="2532888"/>
            <a:ext cx="91440" cy="438912"/>
          </a:xfrm>
          <a:prstGeom prst="roundRect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4824" y="2514600"/>
            <a:ext cx="4389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00" b="1">
                <a:solidFill>
                  <a:srgbClr val="3FDC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514600"/>
            <a:ext cx="28072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SLOW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7" y="3136391"/>
            <a:ext cx="2980944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DBCD7"/>
                </a:solidFill>
                <a:latin typeface="Aptos"/>
              </a:defRPr>
            </a:pPr>
            <a:r>
              <a:t>Teams lack one shared view to spot urgent and recurring issues.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83480"/>
            <a:ext cx="10744200" cy="822960"/>
          </a:xfrm>
          <a:prstGeom prst="round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193792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FDCD2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148072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F8FAFF"/>
                </a:solidFill>
                <a:latin typeface="Aptos"/>
              </a:defRPr>
            </a:pPr>
            <a:r>
              <a:t>One shared place for reporting, prioritizing, and tracking local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F8FAFF"/>
                </a:solidFill>
                <a:latin typeface="Aptos"/>
              </a:defRPr>
            </a:pPr>
            <a:r>
              <a:t>One simple journey from report to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DBCD7"/>
                </a:solidFill>
                <a:latin typeface="Aptos"/>
              </a:defRPr>
            </a:pPr>
            <a:r>
              <a:t>Designed for residents, administrators, and maintenance teams.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777240" cy="50292"/>
          </a:xfrm>
          <a:prstGeom prst="rect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DBCD7"/>
                </a:solidFill>
                <a:latin typeface="Aptos"/>
              </a:defRPr>
            </a:pPr>
            <a:r>
              <a:t>03  /  07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53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0C142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21991"/>
            <a:ext cx="1508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212848"/>
            <a:ext cx="32918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DBCD7"/>
                </a:solidFill>
                <a:latin typeface="Aptos"/>
              </a:defRPr>
            </a:pPr>
            <a:r>
              <a:t>Add category, description, and location.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" y="2816352"/>
            <a:ext cx="45720" cy="448056"/>
          </a:xfrm>
          <a:prstGeom prst="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3310128"/>
            <a:ext cx="566928" cy="566928"/>
          </a:xfrm>
          <a:prstGeom prst="ellipse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456432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0C142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1508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328416"/>
            <a:ext cx="32918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DBCD7"/>
                </a:solidFill>
                <a:latin typeface="Aptos"/>
              </a:defRPr>
            </a:pPr>
            <a:r>
              <a:t>Follow the current status using a report 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4712" y="3931920"/>
            <a:ext cx="45720" cy="448056"/>
          </a:xfrm>
          <a:prstGeom prst="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4425696"/>
            <a:ext cx="566928" cy="566928"/>
          </a:xfrm>
          <a:prstGeom prst="ellipse">
            <a:avLst/>
          </a:prstGeom>
          <a:solidFill>
            <a:srgbClr val="4BD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56692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0C142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453128"/>
            <a:ext cx="1508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8FAFF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443983"/>
            <a:ext cx="32918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DBCD7"/>
                </a:solidFill>
                <a:latin typeface="Aptos"/>
              </a:defRPr>
            </a:pPr>
            <a:r>
              <a:t>Teams update progress until completion.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2148840"/>
            <a:ext cx="4160520" cy="3611880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2450592"/>
            <a:ext cx="3383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FDCD2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23" name="Oval 22"/>
          <p:cNvSpPr/>
          <p:nvPr/>
        </p:nvSpPr>
        <p:spPr>
          <a:xfrm>
            <a:off x="7296912" y="3008376"/>
            <a:ext cx="164592" cy="164592"/>
          </a:xfrm>
          <a:prstGeom prst="ellipse">
            <a:avLst/>
          </a:prstGeom>
          <a:solidFill>
            <a:srgbClr val="53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07808" y="2971800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Issue category &amp; location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96912" y="3493008"/>
            <a:ext cx="164592" cy="164592"/>
          </a:xfrm>
          <a:prstGeom prst="ellipse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07808" y="3456432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Unique report ID</a:t>
            </a:r>
          </a:p>
        </p:txBody>
      </p:sp>
      <p:sp>
        <p:nvSpPr>
          <p:cNvPr id="27" name="Oval 26"/>
          <p:cNvSpPr/>
          <p:nvPr/>
        </p:nvSpPr>
        <p:spPr>
          <a:xfrm>
            <a:off x="7296912" y="3977640"/>
            <a:ext cx="164592" cy="164592"/>
          </a:xfrm>
          <a:prstGeom prst="ellipse">
            <a:avLst/>
          </a:prstGeom>
          <a:solidFill>
            <a:srgbClr val="4BD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07808" y="3941064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Live-style status timeline</a:t>
            </a:r>
          </a:p>
        </p:txBody>
      </p:sp>
      <p:sp>
        <p:nvSpPr>
          <p:cNvPr id="29" name="Oval 28"/>
          <p:cNvSpPr/>
          <p:nvPr/>
        </p:nvSpPr>
        <p:spPr>
          <a:xfrm>
            <a:off x="7296912" y="4462272"/>
            <a:ext cx="164592" cy="16459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4425696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Admin assignment tools</a:t>
            </a:r>
          </a:p>
        </p:txBody>
      </p:sp>
      <p:sp>
        <p:nvSpPr>
          <p:cNvPr id="31" name="Oval 30"/>
          <p:cNvSpPr/>
          <p:nvPr/>
        </p:nvSpPr>
        <p:spPr>
          <a:xfrm>
            <a:off x="7296912" y="4946904"/>
            <a:ext cx="164592" cy="164592"/>
          </a:xfrm>
          <a:prstGeom prst="ellipse">
            <a:avLst/>
          </a:prstGeom>
          <a:solidFill>
            <a:srgbClr val="A0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07808" y="491032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Search, sort &amp; filter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F8FAFF"/>
                </a:solidFill>
                <a:latin typeface="Aptos"/>
              </a:defRPr>
            </a:pPr>
            <a:r>
              <a:t>A transparent process keeps everyone aligned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DBCD7"/>
                </a:solidFill>
                <a:latin typeface="Aptos"/>
              </a:defRPr>
            </a:pPr>
            <a:r>
              <a:t>Every report moves through clear stages, with priority helping staff decide what to review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777240" cy="50292"/>
          </a:xfrm>
          <a:prstGeom prst="rect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DBCD7"/>
                </a:solidFill>
                <a:latin typeface="Aptos"/>
              </a:defRPr>
            </a:pPr>
            <a:r>
              <a:t>04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1874519" cy="1481328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44168" y="2148840"/>
            <a:ext cx="566928" cy="566928"/>
          </a:xfrm>
          <a:prstGeom prst="ellipse">
            <a:avLst/>
          </a:prstGeom>
          <a:solidFill>
            <a:srgbClr val="53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4168" y="2295144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0C142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816352"/>
            <a:ext cx="1581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8FAFF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1012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ADBCD7"/>
                </a:solidFill>
                <a:latin typeface="Aptos"/>
              </a:defRPr>
            </a:pPr>
            <a:r>
              <a:t>Resident sends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92608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600" b="1">
                <a:solidFill>
                  <a:srgbClr val="3FDCD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8" y="2514600"/>
            <a:ext cx="1874519" cy="1481328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48456" y="2148840"/>
            <a:ext cx="566928" cy="566928"/>
          </a:xfrm>
          <a:prstGeom prst="ellipse">
            <a:avLst/>
          </a:prstGeom>
          <a:solidFill>
            <a:srgbClr val="A0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8456" y="2295144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0C142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816352"/>
            <a:ext cx="1581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8FA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331012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ADBCD7"/>
                </a:solidFill>
                <a:latin typeface="Aptos"/>
              </a:defRPr>
            </a:pPr>
            <a:r>
              <a:t>Admin checks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92608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600" b="1">
                <a:solidFill>
                  <a:srgbClr val="3FDCD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94376" y="2514600"/>
            <a:ext cx="1874519" cy="1481328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52744" y="2148840"/>
            <a:ext cx="566928" cy="566928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52744" y="2295144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0C142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816352"/>
            <a:ext cx="1581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8FA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331012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ADBCD7"/>
                </a:solidFill>
                <a:latin typeface="Aptos"/>
              </a:defRPr>
            </a:pPr>
            <a:r>
              <a:t>Urgency is assessed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292608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600" b="1">
                <a:solidFill>
                  <a:srgbClr val="3FDCD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98664" y="2514600"/>
            <a:ext cx="1874519" cy="1481328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57032" y="2148840"/>
            <a:ext cx="566928" cy="566928"/>
          </a:xfrm>
          <a:prstGeom prst="ellipse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2" y="2295144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0C142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2816352"/>
            <a:ext cx="1581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8FAFF"/>
                </a:solidFill>
                <a:latin typeface="Aptos"/>
              </a:defRPr>
            </a:pPr>
            <a:r>
              <a:t>ASSIGN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31012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ADBCD7"/>
                </a:solidFill>
                <a:latin typeface="Aptos"/>
              </a:defRPr>
            </a:pPr>
            <a:r>
              <a:t>Team receives 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292608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600" b="1">
                <a:solidFill>
                  <a:srgbClr val="3FDCD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02952" y="2514600"/>
            <a:ext cx="1874519" cy="1481328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561320" y="2148840"/>
            <a:ext cx="566928" cy="566928"/>
          </a:xfrm>
          <a:prstGeom prst="ellipse">
            <a:avLst/>
          </a:prstGeom>
          <a:solidFill>
            <a:srgbClr val="4BD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2295144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0C142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9256" y="2816352"/>
            <a:ext cx="15819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8FAFF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310128"/>
            <a:ext cx="1554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ADBCD7"/>
                </a:solidFill>
                <a:latin typeface="Aptos"/>
              </a:defRPr>
            </a:pPr>
            <a:r>
              <a:t>Progress is recorded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800600"/>
            <a:ext cx="10652760" cy="914400"/>
          </a:xfrm>
          <a:prstGeom prst="round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5102352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FDCD2"/>
                </a:solidFill>
                <a:latin typeface="Aptos"/>
              </a:defRPr>
            </a:pPr>
            <a:r>
              <a:t>PRIORITY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010912"/>
            <a:ext cx="5212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F8FAFF"/>
                </a:solidFill>
                <a:latin typeface="Aptos"/>
              </a:defRPr>
            </a:pPr>
            <a:r>
              <a:t>Urgency + safety risk + waiting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102352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00" b="1">
                <a:solidFill>
                  <a:srgbClr val="FFC25C"/>
                </a:solidFill>
                <a:latin typeface="Aptos"/>
              </a:defRPr>
            </a:pPr>
            <a:r>
              <a:t>Illustrative scoring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F8FAFF"/>
                </a:solidFill>
                <a:latin typeface="Aptos"/>
              </a:defRPr>
            </a:pPr>
            <a:r>
              <a:t>At a glance: what needs attention?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DBCD7"/>
                </a:solidFill>
                <a:latin typeface="Aptos"/>
              </a:defRPr>
            </a:pPr>
            <a:r>
              <a:t>Illustrative sample data showing how an administrator could monitor reports.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777240" cy="50292"/>
          </a:xfrm>
          <a:prstGeom prst="rect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DBCD7"/>
                </a:solidFill>
                <a:latin typeface="Aptos"/>
              </a:defRPr>
            </a:pPr>
            <a:r>
              <a:t>05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0744200" cy="3886200"/>
          </a:xfrm>
          <a:prstGeom prst="round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10744200" cy="475488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85416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F8FAFF"/>
                </a:solidFill>
                <a:latin typeface="Aptos"/>
              </a:defRPr>
            </a:pPr>
            <a:r>
              <a:t>NEIGHBORHOOD CONTROL 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788920"/>
            <a:ext cx="2212848" cy="841248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907792"/>
            <a:ext cx="731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300" b="1">
                <a:solidFill>
                  <a:srgbClr val="5382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72384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667691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2788920"/>
            <a:ext cx="2212848" cy="841248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67328" y="2907792"/>
            <a:ext cx="731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300" b="1">
                <a:solidFill>
                  <a:srgbClr val="FFC25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072384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667691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2788920"/>
            <a:ext cx="2212848" cy="841248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2907792"/>
            <a:ext cx="731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300" b="1">
                <a:solidFill>
                  <a:srgbClr val="4BD394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072384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667691"/>
                </a:solidFill>
                <a:latin typeface="Aptos"/>
              </a:defRPr>
            </a:pPr>
            <a:r>
              <a:t>RESOLVED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41663" y="2788920"/>
            <a:ext cx="2212848" cy="841248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24543" y="2907792"/>
            <a:ext cx="731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300" b="1">
                <a:solidFill>
                  <a:srgbClr val="FF71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3" y="3072384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667691"/>
                </a:solidFill>
                <a:latin typeface="Aptos"/>
              </a:defRPr>
            </a:pPr>
            <a:r>
              <a:t>URGENT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77639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9253D"/>
                </a:solidFill>
                <a:latin typeface="Aptos"/>
              </a:defRPr>
            </a:pPr>
            <a:r>
              <a:t>RECENT ISSUES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315968"/>
            <a:ext cx="10149840" cy="347472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4389120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667691"/>
                </a:solidFill>
                <a:latin typeface="Aptos"/>
              </a:defRPr>
            </a:pPr>
            <a:r>
              <a:t>#104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389120"/>
            <a:ext cx="4206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9253D"/>
                </a:solidFill>
                <a:latin typeface="Aptos"/>
              </a:defRPr>
            </a:pPr>
            <a:r>
              <a:t>Broken streetlight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389120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FF7180"/>
                </a:solidFill>
                <a:latin typeface="Aptos"/>
              </a:defRPr>
            </a:pPr>
            <a:r>
              <a:t>URGENT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754879"/>
            <a:ext cx="10149840" cy="347472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0432" y="4828031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667691"/>
                </a:solidFill>
                <a:latin typeface="Aptos"/>
              </a:defRPr>
            </a:pPr>
            <a:r>
              <a:t>#105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828031"/>
            <a:ext cx="4206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9253D"/>
                </a:solidFill>
                <a:latin typeface="Aptos"/>
              </a:defRPr>
            </a:pPr>
            <a:r>
              <a:t>Pothole near bus stop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828031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FFC25C"/>
                </a:solidFill>
                <a:latin typeface="Aptos"/>
              </a:defRPr>
            </a:pPr>
            <a:r>
              <a:t>ASSIGNED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193792"/>
            <a:ext cx="10149840" cy="347472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266944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667691"/>
                </a:solidFill>
                <a:latin typeface="Aptos"/>
              </a:defRPr>
            </a:pPr>
            <a:r>
              <a:t>#106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5266944"/>
            <a:ext cx="4206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9253D"/>
                </a:solidFill>
                <a:latin typeface="Aptos"/>
              </a:defRPr>
            </a:pPr>
            <a:r>
              <a:t>Overflowing public bin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266944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382FF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6144768"/>
            <a:ext cx="10332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0">
                <a:solidFill>
                  <a:srgbClr val="ADBCD7"/>
                </a:solidFill>
                <a:latin typeface="Aptos"/>
              </a:defRPr>
            </a:pPr>
            <a:r>
              <a:t>Sample numbers are for presentation only—not live system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F8FAFF"/>
                </a:solidFill>
                <a:latin typeface="Aptos"/>
              </a:defRPr>
            </a:pPr>
            <a:r>
              <a:t>Simple architecture. Clear responsibilities.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DBCD7"/>
                </a:solidFill>
                <a:latin typeface="Aptos"/>
              </a:defRPr>
            </a:pPr>
            <a:r>
              <a:t>A practical starting point for a student prototype.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777240" cy="50292"/>
          </a:xfrm>
          <a:prstGeom prst="rect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52760" y="642823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DBCD7"/>
                </a:solidFill>
                <a:latin typeface="Aptos"/>
              </a:defRPr>
            </a:pPr>
            <a:r>
              <a:t>06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5669280" cy="804672"/>
          </a:xfrm>
          <a:prstGeom prst="roundRect">
            <a:avLst/>
          </a:prstGeom>
          <a:solidFill>
            <a:srgbClr val="53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258568"/>
            <a:ext cx="534009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0C1427"/>
                </a:solidFill>
                <a:latin typeface="Aptos"/>
              </a:defRPr>
            </a:pPr>
            <a:r>
              <a:t>FRONT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2578608"/>
            <a:ext cx="53949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0C1427"/>
                </a:solidFill>
                <a:latin typeface="Aptos"/>
              </a:defRPr>
            </a:pPr>
            <a:r>
              <a:t>Responsive pages • report form •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246120"/>
            <a:ext cx="4846320" cy="804672"/>
          </a:xfrm>
          <a:prstGeom prst="roundRect">
            <a:avLst/>
          </a:prstGeom>
          <a:solidFill>
            <a:srgbClr val="A0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4751" y="3355848"/>
            <a:ext cx="451713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0C1427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675887"/>
            <a:ext cx="45720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0C1427"/>
                </a:solidFill>
                <a:latin typeface="Aptos"/>
              </a:defRPr>
            </a:pPr>
            <a:r>
              <a:t>Python + Flask • validation • priority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4343400"/>
            <a:ext cx="4023360" cy="804672"/>
          </a:xfrm>
          <a:prstGeom prst="roundRect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56232" y="4453128"/>
            <a:ext cx="369417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0C1427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73168"/>
            <a:ext cx="37490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0C1427"/>
                </a:solidFill>
                <a:latin typeface="Aptos"/>
              </a:defRPr>
            </a:pPr>
            <a:r>
              <a:t>PostgreSQL • users • issues • status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03120"/>
            <a:ext cx="3794760" cy="3474720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242316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3FDCD2"/>
                </a:solidFill>
                <a:latin typeface="Aptos"/>
              </a:defRPr>
            </a:pPr>
            <a:r>
              <a:t>KEY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2971800"/>
            <a:ext cx="25603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4BD39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971800"/>
            <a:ext cx="265176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F8FAFF"/>
                </a:solidFill>
                <a:latin typeface="Aptos"/>
              </a:defRPr>
            </a:pPr>
            <a:r>
              <a:t>Required fields 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3429000"/>
            <a:ext cx="25603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4BD39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29000"/>
            <a:ext cx="265176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F8FAFF"/>
                </a:solidFill>
                <a:latin typeface="Aptos"/>
              </a:defRPr>
            </a:pPr>
            <a:r>
              <a:t>Priority order is correct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886200"/>
            <a:ext cx="25603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4BD39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86200"/>
            <a:ext cx="265176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F8FAFF"/>
                </a:solidFill>
                <a:latin typeface="Aptos"/>
              </a:defRPr>
            </a:pPr>
            <a:r>
              <a:t>Status history is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4343400"/>
            <a:ext cx="25603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4BD394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343400"/>
            <a:ext cx="265176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F8FAFF"/>
                </a:solidFill>
                <a:latin typeface="Aptos"/>
              </a:defRPr>
            </a:pPr>
            <a:r>
              <a:t>Only admins assign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4800600"/>
            <a:ext cx="25603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FC25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800600"/>
            <a:ext cx="265176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F8FAFF"/>
                </a:solidFill>
                <a:latin typeface="Aptos"/>
              </a:defRPr>
            </a:pPr>
            <a:r>
              <a:t>Duplicate reports flagged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06440"/>
            <a:ext cx="102412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ADBCD7"/>
                </a:solidFill>
                <a:latin typeface="Aptos"/>
              </a:defRPr>
            </a:pPr>
            <a:r>
              <a:t>Optional future upgrades: map view, photo uploads, notifications, and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822960"/>
            <a:ext cx="2560320" cy="2560320"/>
          </a:xfrm>
          <a:prstGeom prst="ellipse">
            <a:avLst/>
          </a:prstGeom>
          <a:solidFill>
            <a:srgbClr val="53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2743200"/>
            <a:ext cx="1371600" cy="1371600"/>
          </a:xfrm>
          <a:prstGeom prst="ellipse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58952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300" b="1">
                <a:solidFill>
                  <a:srgbClr val="F8FAFF"/>
                </a:solidFill>
                <a:latin typeface="Aptos"/>
              </a:defRPr>
            </a:pPr>
            <a:r>
              <a:t>A better neighborhood</a:t>
            </a:r>
            <a:br/>
            <a:r>
              <a:t>starts with being heard.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46120"/>
            <a:ext cx="69494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ADBCD7"/>
                </a:solidFill>
                <a:latin typeface="Aptos"/>
              </a:defRPr>
            </a:pPr>
            <a:r>
              <a:t>The Neighborhood Issue Tracker helps residents report concerns and gives local teams a shared, traceable way to prioritize and resolve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17720"/>
            <a:ext cx="2103120" cy="530352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" y="4782312"/>
            <a:ext cx="137160" cy="137160"/>
          </a:xfrm>
          <a:prstGeom prst="ellipse">
            <a:avLst/>
          </a:prstGeom>
          <a:solidFill>
            <a:srgbClr val="53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4745736"/>
            <a:ext cx="1600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F8FAFF"/>
                </a:solidFill>
                <a:latin typeface="Aptos"/>
              </a:defRPr>
            </a:pPr>
            <a:r>
              <a:t>EASIER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79" y="4617720"/>
            <a:ext cx="2103120" cy="530352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19272" y="4782312"/>
            <a:ext cx="137160" cy="137160"/>
          </a:xfrm>
          <a:prstGeom prst="ellipse">
            <a:avLst/>
          </a:prstGeom>
          <a:solidFill>
            <a:srgbClr val="3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4745736"/>
            <a:ext cx="1600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F8FAFF"/>
                </a:solidFill>
                <a:latin typeface="Aptos"/>
              </a:defRPr>
            </a:pPr>
            <a:r>
              <a:t>CLEARER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617720"/>
            <a:ext cx="2103120" cy="530352"/>
          </a:xfrm>
          <a:prstGeom prst="roundRect">
            <a:avLst/>
          </a:prstGeom>
          <a:solidFill>
            <a:srgbClr val="17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50992" y="4782312"/>
            <a:ext cx="137160" cy="137160"/>
          </a:xfrm>
          <a:prstGeom prst="ellipse">
            <a:avLst/>
          </a:prstGeom>
          <a:solidFill>
            <a:srgbClr val="4BD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9592" y="4745736"/>
            <a:ext cx="1600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F8FAFF"/>
                </a:solidFill>
                <a:latin typeface="Aptos"/>
              </a:defRPr>
            </a:pPr>
            <a:r>
              <a:t>BETTER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2743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3FDCD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99632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ADBCD7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505</Words>
  <Application>Microsoft Office PowerPoint</Application>
  <PresentationFormat>Widescreen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71 - Neighborhood Issue Tracker (7 Slides)</dc:title>
  <dc:subject>Attractive project presentation</dc:subject>
  <dc:creator>OpenAI</dc:creator>
  <cp:keywords>Neighborhood Issue Tracker, Problem 71, presentation</cp:keywords>
  <dc:description>generated using python-pptx</dc:description>
  <cp:lastModifiedBy>Bolla Akanksha</cp:lastModifiedBy>
  <cp:revision>2</cp:revision>
  <dcterms:created xsi:type="dcterms:W3CDTF">2013-01-27T09:14:16Z</dcterms:created>
  <dcterms:modified xsi:type="dcterms:W3CDTF">2026-10-10T04:39:39Z</dcterms:modified>
  <cp:category/>
</cp:coreProperties>
</file>